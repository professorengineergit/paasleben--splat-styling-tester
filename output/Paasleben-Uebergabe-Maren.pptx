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acfcc873f541ce" /><Relationship Type="http://schemas.openxmlformats.org/officeDocument/2006/relationships/extended-properties" Target="/docProps/app.xml" Id="R1d5bf22d0df045e7" /><Relationship Type="http://schemas.openxmlformats.org/officeDocument/2006/relationships/officeDocument" Target="/ppt/presentation.xml" Id="R40d1890f38e243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c41c9a392641e8"/>
  </p:sldMasterIdLst>
  <p:notesMasterIdLst>
    <p:notesMasterId xmlns:r="http://schemas.openxmlformats.org/officeDocument/2006/relationships" r:id="R2290ab8c431b44d6"/>
  </p:notesMasterIdLst>
  <p:sldIdLst>
    <p:sldId xmlns:r="http://schemas.openxmlformats.org/officeDocument/2006/relationships" id="256" r:id="Raa8a3e27dd684a88"/>
    <p:sldId xmlns:r="http://schemas.openxmlformats.org/officeDocument/2006/relationships" id="257" r:id="R8b95752a2b974c58"/>
    <p:sldId xmlns:r="http://schemas.openxmlformats.org/officeDocument/2006/relationships" id="258" r:id="R5f8261a88e85497e"/>
    <p:sldId xmlns:r="http://schemas.openxmlformats.org/officeDocument/2006/relationships" id="259" r:id="Rc37ea48ad0a1473f"/>
    <p:sldId xmlns:r="http://schemas.openxmlformats.org/officeDocument/2006/relationships" id="260" r:id="Rce668d4b8cb34b00"/>
    <p:sldId xmlns:r="http://schemas.openxmlformats.org/officeDocument/2006/relationships" id="261" r:id="R1894e168ad0d4565"/>
    <p:sldId xmlns:r="http://schemas.openxmlformats.org/officeDocument/2006/relationships" id="262" r:id="Rb3f3e9dc26d14d72"/>
    <p:sldId xmlns:r="http://schemas.openxmlformats.org/officeDocument/2006/relationships" id="263" r:id="R0a3765cd4bed4bc6"/>
    <p:sldId xmlns:r="http://schemas.openxmlformats.org/officeDocument/2006/relationships" id="264" r:id="Rd0ec0de596c44a8c"/>
    <p:sldId xmlns:r="http://schemas.openxmlformats.org/officeDocument/2006/relationships" id="265" r:id="R4d591949b8ee4624"/>
    <p:sldId xmlns:r="http://schemas.openxmlformats.org/officeDocument/2006/relationships" id="266" r:id="R17abc55d33ec49db"/>
    <p:sldId xmlns:r="http://schemas.openxmlformats.org/officeDocument/2006/relationships" id="267" r:id="Rc1c1997b09a144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dd2526f57e412d" /><Relationship Type="http://schemas.openxmlformats.org/officeDocument/2006/relationships/slideMaster" Target="/ppt/slideMasters/slideMaster1.xml" Id="R1bc41c9a392641e8" /><Relationship Type="http://schemas.openxmlformats.org/officeDocument/2006/relationships/notesMaster" Target="/ppt/notesMasters/notesMaster1.xml" Id="R2290ab8c431b44d6" /><Relationship Type="http://schemas.openxmlformats.org/officeDocument/2006/relationships/presProps" Target="/ppt/presProps.xml" Id="Rd93d52b6641d453d" /><Relationship Type="http://schemas.openxmlformats.org/officeDocument/2006/relationships/tableStyles" Target="/ppt/tableStyles.xml" Id="Re8dfe3da5e98416a" /><Relationship Type="http://schemas.openxmlformats.org/officeDocument/2006/relationships/slide" Target="/ppt/slides/slide1.xml" Id="Raa8a3e27dd684a88" /><Relationship Type="http://schemas.openxmlformats.org/officeDocument/2006/relationships/slide" Target="/ppt/slides/slide2.xml" Id="R8b95752a2b974c58" /><Relationship Type="http://schemas.openxmlformats.org/officeDocument/2006/relationships/slide" Target="/ppt/slides/slide3.xml" Id="R5f8261a88e85497e" /><Relationship Type="http://schemas.openxmlformats.org/officeDocument/2006/relationships/slide" Target="/ppt/slides/slide4.xml" Id="Rc37ea48ad0a1473f" /><Relationship Type="http://schemas.openxmlformats.org/officeDocument/2006/relationships/slide" Target="/ppt/slides/slide5.xml" Id="Rce668d4b8cb34b00" /><Relationship Type="http://schemas.openxmlformats.org/officeDocument/2006/relationships/slide" Target="/ppt/slides/slide6.xml" Id="R1894e168ad0d4565" /><Relationship Type="http://schemas.openxmlformats.org/officeDocument/2006/relationships/slide" Target="/ppt/slides/slide7.xml" Id="Rb3f3e9dc26d14d72" /><Relationship Type="http://schemas.openxmlformats.org/officeDocument/2006/relationships/slide" Target="/ppt/slides/slide8.xml" Id="R0a3765cd4bed4bc6" /><Relationship Type="http://schemas.openxmlformats.org/officeDocument/2006/relationships/slide" Target="/ppt/slides/slide9.xml" Id="Rd0ec0de596c44a8c" /><Relationship Type="http://schemas.openxmlformats.org/officeDocument/2006/relationships/slide" Target="/ppt/slides/slide10.xml" Id="R4d591949b8ee4624" /><Relationship Type="http://schemas.openxmlformats.org/officeDocument/2006/relationships/slide" Target="/ppt/slides/slide11.xml" Id="R17abc55d33ec49db" /><Relationship Type="http://schemas.openxmlformats.org/officeDocument/2006/relationships/slide" Target="/ppt/slides/slide12.xml" Id="Rc1c1997b09a144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99bd43c3df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78ae88c51842f0" /><Relationship Type="http://schemas.openxmlformats.org/officeDocument/2006/relationships/notesMaster" Target="/ppt/notesMasters/notesMaster1.xml" Id="R9f253fa2ce3d4b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5650fac51b4997" /><Relationship Type="http://schemas.openxmlformats.org/officeDocument/2006/relationships/notesMaster" Target="/ppt/notesMasters/notesMaster1.xml" Id="R4fa52d839e9f4d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029d4455d34727" /><Relationship Type="http://schemas.openxmlformats.org/officeDocument/2006/relationships/notesMaster" Target="/ppt/notesMasters/notesMaster1.xml" Id="Re86cf191d1704f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a7dcb683074f57" /><Relationship Type="http://schemas.openxmlformats.org/officeDocument/2006/relationships/notesMaster" Target="/ppt/notesMasters/notesMaster1.xml" Id="R2fcf6113bd8e47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b6cd0160c7419a" /><Relationship Type="http://schemas.openxmlformats.org/officeDocument/2006/relationships/notesMaster" Target="/ppt/notesMasters/notesMaster1.xml" Id="Rc4982400179f4d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790be22cf84b8a" /><Relationship Type="http://schemas.openxmlformats.org/officeDocument/2006/relationships/notesMaster" Target="/ppt/notesMasters/notesMaster1.xml" Id="R7b742b75ec5f42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c1bc295015419e" /><Relationship Type="http://schemas.openxmlformats.org/officeDocument/2006/relationships/notesMaster" Target="/ppt/notesMasters/notesMaster1.xml" Id="Rbf284e3b108e43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574bb7e1734858" /><Relationship Type="http://schemas.openxmlformats.org/officeDocument/2006/relationships/notesMaster" Target="/ppt/notesMasters/notesMaster1.xml" Id="R89e4966ddf7a4c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6b3c16e48348ac" /><Relationship Type="http://schemas.openxmlformats.org/officeDocument/2006/relationships/notesMaster" Target="/ppt/notesMasters/notesMaster1.xml" Id="R5bda12d2b1c24b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56e638ebee45ff" /><Relationship Type="http://schemas.openxmlformats.org/officeDocument/2006/relationships/notesMaster" Target="/ppt/notesMasters/notesMaster1.xml" Id="R100414c8670a43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73d055c5d748d2" /><Relationship Type="http://schemas.openxmlformats.org/officeDocument/2006/relationships/notesMaster" Target="/ppt/notesMasters/notesMaster1.xml" Id="R357872271c5a40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b2a75c5cef48c9" /><Relationship Type="http://schemas.openxmlformats.org/officeDocument/2006/relationships/notesMaster" Target="/ppt/notesMasters/notesMaster1.xml" Id="R1b380ca9874843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Projektunterlagen und finale Website-Aufnahmen.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https://top-executive-events.com/ (Coaching Campus, Freiräume und Exklusivität; abgerufen 01.08.2026)</a:t>
            </a:r>
          </a:p>
          <a:p xmlns:a="http://schemas.openxmlformats.org/drawingml/2006/main">
            <a:r>
              <a:t>- https://maren-paas.com/leistungen/ (Paasleben und FOCUS-Zeit-Prinzip; abgerufen 01.08.2026)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https://maren-paas.com/ (Positionierung und Erscheinungsbild; abgerufen 01.08.2026)</a:t>
            </a:r>
          </a:p>
          <a:p xmlns:a="http://schemas.openxmlformats.org/drawingml/2006/main">
            <a:r>
              <a:t>- https://maren-paas.com/philosophie/ (Professionalität, Klarheit, Sensibilität, Authentizität; abgerufen 01.08.2026)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Projektunterlagen und finale Website-Aufnahmen.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Projektunterlagen und finale Website-Aufnahmen.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Projektunterlagen und finale Website-Aufnahmen.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Projektunterlagen und finale Website-Aufnahmen.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Projektunterlagen und finale Website-Aufnahmen.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Projektunterlagen und finale Website-Aufnahmen.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Projektunterlagen und finale Website-Aufnahmen.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Interne Projektunterlagen und finale Website-Aufnahmen.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https://github.com/ProfessorEngineergit/Paasleben--Splat-Styling-Tester (Projekt und GitHub-Pages-Veröffentlichung)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86ebe5f9a43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c810703f3b419e" /><Relationship Type="http://schemas.openxmlformats.org/officeDocument/2006/relationships/slideLayout" Target="/ppt/slideLayouts/slideLayout1.xml" Id="R38f912885f2e4d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f912885f2e4d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f2486cb1a4a35" /><Relationship Type="http://schemas.openxmlformats.org/officeDocument/2006/relationships/image" Target="/ppt/media/image.jpeg" Id="Rc32f635cf4b74f7b" /><Relationship Type="http://schemas.openxmlformats.org/officeDocument/2006/relationships/notesSlide" Target="/ppt/notesSlides/notesSlide1.xml" Id="R9ad4c6a15e2644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bc8a4132b4ee2" /><Relationship Type="http://schemas.openxmlformats.org/officeDocument/2006/relationships/image" Target="/ppt/media/image2.jpeg" Id="R15207aa7423d4d7d" /><Relationship Type="http://schemas.openxmlformats.org/officeDocument/2006/relationships/notesSlide" Target="/ppt/notesSlides/notesSlide2.xml" Id="R576c20c43d9243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5776f360c4ffe" /><Relationship Type="http://schemas.openxmlformats.org/officeDocument/2006/relationships/image" Target="/ppt/media/image3.jpeg" Id="Ra9a36395cf6a4f93" /><Relationship Type="http://schemas.openxmlformats.org/officeDocument/2006/relationships/image" Target="/ppt/media/image4.jpeg" Id="R5a9fac082bcf47e7" /><Relationship Type="http://schemas.openxmlformats.org/officeDocument/2006/relationships/image" Target="/ppt/media/image5.jpeg" Id="Ra0d2f3f8253c4810" /><Relationship Type="http://schemas.openxmlformats.org/officeDocument/2006/relationships/notesSlide" Target="/ppt/notesSlides/notesSlide3.xml" Id="R190a4f68d45c4a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389b7df4c4307" /><Relationship Type="http://schemas.openxmlformats.org/officeDocument/2006/relationships/notesSlide" Target="/ppt/notesSlides/notesSlide4.xml" Id="R8374de8b3bf746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04f8e413741cf" /><Relationship Type="http://schemas.openxmlformats.org/officeDocument/2006/relationships/image" Target="/ppt/media/image6.jpeg" Id="R7e014e1ad8054adc" /><Relationship Type="http://schemas.openxmlformats.org/officeDocument/2006/relationships/notesSlide" Target="/ppt/notesSlides/notesSlide5.xml" Id="R28a50d14dc7f44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e1ead8f904481" /><Relationship Type="http://schemas.openxmlformats.org/officeDocument/2006/relationships/image" Target="/ppt/media/image7.jpeg" Id="Rb95d22451c6e46d6" /><Relationship Type="http://schemas.openxmlformats.org/officeDocument/2006/relationships/notesSlide" Target="/ppt/notesSlides/notesSlide6.xml" Id="R6db46e8bc6b743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4c134ee4743f3" /><Relationship Type="http://schemas.openxmlformats.org/officeDocument/2006/relationships/image" Target="/ppt/media/image8.jpeg" Id="R45f61f07cf094c59" /><Relationship Type="http://schemas.openxmlformats.org/officeDocument/2006/relationships/notesSlide" Target="/ppt/notesSlides/notesSlide7.xml" Id="R1dd56c459dfb4e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bdb252ac64058" /><Relationship Type="http://schemas.openxmlformats.org/officeDocument/2006/relationships/image" Target="/ppt/media/image9.jpeg" Id="R0a0dea064af64d9d" /><Relationship Type="http://schemas.openxmlformats.org/officeDocument/2006/relationships/image" Target="/ppt/media/image10.jpeg" Id="R0b182d23296b4ddb" /><Relationship Type="http://schemas.openxmlformats.org/officeDocument/2006/relationships/notesSlide" Target="/ppt/notesSlides/notesSlide8.xml" Id="R3f9a1f498b0c45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19ae88e4143c7" /><Relationship Type="http://schemas.openxmlformats.org/officeDocument/2006/relationships/image" Target="/ppt/media/image11.jpeg" Id="Rc14b6e70124d4bfb" /><Relationship Type="http://schemas.openxmlformats.org/officeDocument/2006/relationships/notesSlide" Target="/ppt/notesSlides/notesSlide9.xml" Id="Rebcdc2486bc940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09d9bc13d409f" /><Relationship Type="http://schemas.openxmlformats.org/officeDocument/2006/relationships/notesSlide" Target="/ppt/notesSlides/notesSlide10.xml" Id="R7a9b7077be3b4a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20767ebd648f6" /><Relationship Type="http://schemas.openxmlformats.org/officeDocument/2006/relationships/notesSlide" Target="/ppt/notesSlides/notesSlide11.xml" Id="Rd88e3a53bb6d4f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766c97af44e85" /><Relationship Type="http://schemas.openxmlformats.org/officeDocument/2006/relationships/notesSlide" Target="/ppt/notesSlides/notesSlide12.xml" Id="R6d196794de2d41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f635cf4b74f7b"/>
          <a:srcRect xmlns:a="http://schemas.openxmlformats.org/drawingml/2006/main" l="21111" t="0" r="211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0"/>
            <a:ext cx="7429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9A07-7467-4498-A420-F4146C33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F3446-EF58-4F42-9642-EBF18EA3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0"/>
            <a:ext cx="1619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9D663-B1E4-4729-884E-36B7194A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171"/>
                </a:solidFill>
              </a:defRPr>
            </a:pPr>
            <a:r>
              <a:rPr sz="975" b="1">
                <a:solidFill>
                  <a:srgbClr val="8B8171"/>
                </a:solidFill>
              </a:rPr>
              <a:t>WEBSITE · DESIGN · PFLEGE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3FE6A-3A08-4250-B2A0-D1F4DC58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4211B"/>
                </a:solidFill>
              </a:defRPr>
            </a:pPr>
            <a:r>
              <a:rPr sz="4650" b="1">
                <a:solidFill>
                  <a:srgbClr val="24211B"/>
                </a:solidFill>
              </a:rPr>
              <a:t>Paasleben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F9AFB-59A5-4DAD-8CEE-D009D7C3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3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BE1C6-B78C-4620-A768-052EBFC5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85044"/>
                </a:solidFill>
              </a:defRPr>
            </a:pPr>
            <a:r>
              <a:rPr sz="2250" b="0">
                <a:solidFill>
                  <a:srgbClr val="585044"/>
                </a:solidFill>
              </a:rPr>
              <a:t>Der digitale Coaching Campus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371E1-C848-4D7C-B884-6060957E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8B8171"/>
                </a:solidFill>
              </a:defRPr>
            </a:pPr>
            <a:r>
              <a:rPr sz="1575" b="0">
                <a:solidFill>
                  <a:srgbClr val="8B8171"/>
                </a:solidFill>
              </a:rPr>
              <a:t>Was die neue Website kann – und wie du sie selbst weiterführst.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461BD-9183-4F80-80B8-D72B3F33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428875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24211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85CB4-2BD3-4FAC-A11F-9E07E347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2162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4ECD8"/>
                </a:solidFill>
              </a:defRPr>
            </a:pPr>
            <a:r>
              <a:rPr sz="750" b="1">
                <a:solidFill>
                  <a:srgbClr val="F4ECD8"/>
                </a:solidFill>
              </a:rPr>
              <a:t>ÜBERGABE FÜR MAREN PAAS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C3EE7-6A42-4B1F-9D4D-9D7FEA86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8171"/>
                </a:solidFill>
              </a:defRPr>
            </a:pPr>
            <a:r>
              <a:rPr sz="900" b="0">
                <a:solidFill>
                  <a:srgbClr val="8B8171"/>
                </a:solidFill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1070114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7E31E-DF49-4313-B6E3-6F5D95EC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171"/>
                </a:solidFill>
              </a:defRPr>
            </a:pPr>
            <a:r>
              <a:rPr sz="975" b="1">
                <a:solidFill>
                  <a:srgbClr val="8B8171"/>
                </a:solidFill>
              </a:rPr>
              <a:t>01 · DIE IDEE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7D246-7FCA-48D7-AB97-467B7936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4211B"/>
                </a:solidFill>
              </a:defRPr>
            </a:pPr>
            <a:r>
              <a:rPr sz="3900" b="1">
                <a:solidFill>
                  <a:srgbClr val="24211B"/>
                </a:solidFill>
              </a:rPr>
              <a:t>Nicht nur ansehen.</a:t>
            </a:r>
          </a:p>
          <a:p xmlns:a="http://schemas.openxmlformats.org/drawingml/2006/main">
            <a:pPr algn="l">
              <a:defRPr sz="3900" b="1">
                <a:solidFill>
                  <a:srgbClr val="24211B"/>
                </a:solidFill>
              </a:defRPr>
            </a:pPr>
            <a:r>
              <a:rPr sz="3900" b="1">
                <a:solidFill>
                  <a:srgbClr val="24211B"/>
                </a:solidFill>
              </a:rPr>
              <a:t>Den Ort spüren.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7CB74-7303-4465-AF66-5C261D08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5044"/>
                </a:solidFill>
              </a:defRPr>
            </a:pPr>
            <a:r>
              <a:rPr sz="1725" b="0">
                <a:solidFill>
                  <a:srgbClr val="585044"/>
                </a:solidFill>
              </a:rPr>
              <a:t>Die Website übersetzt Paasleben in eine ruhige, räumliche Entdeckung: Orientierung, Atmosphäre und Geschichten liegen auf derselben Karte.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946C8-B2F4-4392-8373-2E682A69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232A"/>
                </a:solidFill>
              </a:defRPr>
            </a:pPr>
            <a:r>
              <a:rPr sz="900" b="1">
                <a:solidFill>
                  <a:srgbClr val="B3232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32513-C5C6-4767-AEA5-F1985575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52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B"/>
                </a:solidFill>
              </a:defRPr>
            </a:pPr>
            <a:r>
              <a:rPr sz="1650" b="1">
                <a:solidFill>
                  <a:srgbClr val="24211B"/>
                </a:solidFill>
              </a:rPr>
              <a:t>Räumlich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1EC6B-3352-4D0C-80E2-F3209862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00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044"/>
                </a:solidFill>
              </a:defRPr>
            </a:pPr>
            <a:r>
              <a:rPr sz="1275" b="0">
                <a:solidFill>
                  <a:srgbClr val="585044"/>
                </a:solidFill>
              </a:rPr>
              <a:t>Das reale Areal bleibt der Ausgangspunkt.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14603-C4D3-4462-95B6-C5693436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232A"/>
                </a:solidFill>
              </a:defRPr>
            </a:pPr>
            <a:r>
              <a:rPr sz="900" b="1">
                <a:solidFill>
                  <a:srgbClr val="B3232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44DC6-E407-4BFB-98DD-AF2B27FB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386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B"/>
                </a:solidFill>
              </a:defRPr>
            </a:pPr>
            <a:r>
              <a:rPr sz="1650" b="1">
                <a:solidFill>
                  <a:srgbClr val="24211B"/>
                </a:solidFill>
              </a:rPr>
              <a:t>Persönlich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E0A8F-37DD-45D7-8AF0-B2A32610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86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044"/>
                </a:solidFill>
              </a:defRPr>
            </a:pPr>
            <a:r>
              <a:rPr sz="1275" b="0">
                <a:solidFill>
                  <a:srgbClr val="585044"/>
                </a:solidFill>
              </a:rPr>
              <a:t>Jeder Standpunkt erzählt eine eigene Geschichte.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21497-B075-4AD5-85A1-06993B52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232A"/>
                </a:solidFill>
              </a:defRPr>
            </a:pPr>
            <a:r>
              <a:rPr sz="900" b="1">
                <a:solidFill>
                  <a:srgbClr val="B3232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48682-396B-426C-B60B-164B12FC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244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11B"/>
                </a:solidFill>
              </a:defRPr>
            </a:pPr>
            <a:r>
              <a:rPr sz="1650" b="1">
                <a:solidFill>
                  <a:srgbClr val="24211B"/>
                </a:solidFill>
              </a:rPr>
              <a:t>Fokussiert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6D255-9468-410C-9BAD-9386F57C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72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044"/>
                </a:solidFill>
              </a:defRPr>
            </a:pPr>
            <a:r>
              <a:rPr sz="1275" b="0">
                <a:solidFill>
                  <a:srgbClr val="585044"/>
                </a:solidFill>
              </a:rPr>
              <a:t>Keine Parallelveranstaltungen – auch digital bleibt der Ort exklusiv.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07aa7423d4d7d"/>
          <a:srcRect xmlns:a="http://schemas.openxmlformats.org/drawingml/2006/main" l="15045" t="0" r="150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4150" y="685800"/>
            <a:ext cx="4972050" cy="5334000"/>
          </a:xfrm>
          <a:prstGeom xmlns:a="http://schemas.openxmlformats.org/drawingml/2006/main" prst="roundRect">
            <a:avLst>
              <a:gd name="adj" fmla="val 76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55478-9F1B-4812-A8EB-1AE6AE25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43550"/>
            <a:ext cx="2190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7ED"/>
          </a:solidFill>
          <a:ln xmlns:a="http://schemas.openxmlformats.org/drawingml/2006/main" w="9525">
            <a:solidFill>
              <a:srgbClr val="C9BCA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06BFC-7BF8-4D37-ADE3-D6192E49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211B"/>
                </a:solidFill>
              </a:defRPr>
            </a:pPr>
            <a:r>
              <a:rPr sz="750" b="1">
                <a:solidFill>
                  <a:srgbClr val="24211B"/>
                </a:solidFill>
              </a:rPr>
              <a:t>ORT VOR OBERFLÄCHE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BB83D-7732-4645-AD00-3161B0B8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9926C-3E39-4243-AB51-BAC5BBE3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1"/>
                </a:solidFill>
              </a:defRPr>
            </a:pPr>
            <a:r>
              <a:rPr sz="750" b="1">
                <a:solidFill>
                  <a:srgbClr val="8B8171"/>
                </a:solidFill>
              </a:rPr>
              <a:t>PAASLEBEN · ÜBERGABE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3F3EE-2347-48B6-9E1E-5A3C8C2D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54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2D285-2EE0-4712-BB89-E90F6C10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171"/>
                </a:solidFill>
              </a:defRPr>
            </a:pPr>
            <a:r>
              <a:rPr sz="975" b="1">
                <a:solidFill>
                  <a:srgbClr val="8B8171"/>
                </a:solidFill>
              </a:rPr>
              <a:t>02 · DESIGNKONTINUITÄT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401AE-B324-4CB6-8D5D-5EB8AEB7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211B"/>
                </a:solidFill>
              </a:defRPr>
            </a:pPr>
            <a:r>
              <a:rPr sz="3600" b="1">
                <a:solidFill>
                  <a:srgbClr val="24211B"/>
                </a:solidFill>
              </a:rPr>
              <a:t>Vertraute Haltung.</a:t>
            </a:r>
          </a:p>
          <a:p xmlns:a="http://schemas.openxmlformats.org/drawingml/2006/main">
            <a:pPr algn="l">
              <a:defRPr sz="3600" b="1">
                <a:solidFill>
                  <a:srgbClr val="24211B"/>
                </a:solidFill>
              </a:defRPr>
            </a:pPr>
            <a:r>
              <a:rPr sz="3600" b="1">
                <a:solidFill>
                  <a:srgbClr val="24211B"/>
                </a:solidFill>
              </a:rPr>
              <a:t>Zeitgemäße 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16952-A18F-4679-978B-8351F926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5044"/>
                </a:solidFill>
              </a:defRPr>
            </a:pPr>
            <a:r>
              <a:rPr sz="1650" b="0">
                <a:solidFill>
                  <a:srgbClr val="585044"/>
                </a:solidFill>
              </a:rPr>
              <a:t>Die neue Seite widerspricht dem bisherigen Auftritt nicht. Sie verdichtet dieselben Qualitäten – professionell, klar, sensibel – zu einem räumlichen Erlebnis.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6FAC9-D248-4310-B9AE-2F70E2FC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3E37"/>
                </a:solidFill>
              </a:defRPr>
            </a:pPr>
            <a:r>
              <a:rPr sz="1125" b="1">
                <a:solidFill>
                  <a:srgbClr val="263E37"/>
                </a:solidFill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E5FF7-4315-4732-A8E1-095EDA24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11B"/>
                </a:solidFill>
              </a:defRPr>
            </a:pPr>
            <a:r>
              <a:rPr sz="1875" b="1">
                <a:solidFill>
                  <a:srgbClr val="24211B"/>
                </a:solidFill>
              </a:rPr>
              <a:t>Souverän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0C9DB-DA64-4F18-833D-7965E18D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4335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044"/>
                </a:solidFill>
              </a:defRPr>
            </a:pPr>
            <a:r>
              <a:rPr sz="1350" b="0">
                <a:solidFill>
                  <a:srgbClr val="585044"/>
                </a:solidFill>
              </a:rPr>
              <a:t>Großzügige Flächen und präzise Hierarchien statt visueller Lautstärke.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15560-BBE1-4718-A7B0-6D04D280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3232A"/>
                </a:solidFill>
              </a:defRPr>
            </a:pPr>
            <a:r>
              <a:rPr sz="1125" b="1">
                <a:solidFill>
                  <a:srgbClr val="B3232A"/>
                </a:solidFill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7AB33-D615-40AC-83C4-60113443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11B"/>
                </a:solidFill>
              </a:defRPr>
            </a:pPr>
            <a:r>
              <a:rPr sz="1875" b="1">
                <a:solidFill>
                  <a:srgbClr val="24211B"/>
                </a:solidFill>
              </a:rPr>
              <a:t>Menschlich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5C2A5-D96A-4332-96BF-3F65A309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3870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044"/>
                </a:solidFill>
              </a:defRPr>
            </a:pPr>
            <a:r>
              <a:rPr sz="1350" b="0">
                <a:solidFill>
                  <a:srgbClr val="585044"/>
                </a:solidFill>
              </a:rPr>
              <a:t>Warme Papierfarben, echte Fotografien und organische Bewegung.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525EE-A178-4BB2-8E84-24550BFC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444"/>
                </a:solidFill>
              </a:defRPr>
            </a:pPr>
            <a:r>
              <a:rPr sz="1125" b="1">
                <a:solidFill>
                  <a:srgbClr val="243444"/>
                </a:solidFill>
              </a:rPr>
              <a:t>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A7168-483C-4F80-96FE-438489CF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72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11B"/>
                </a:solidFill>
              </a:defRPr>
            </a:pPr>
            <a:r>
              <a:rPr sz="1875" b="1">
                <a:solidFill>
                  <a:srgbClr val="24211B"/>
                </a:solidFill>
              </a:rPr>
              <a:t>Eigenständig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D172D-2345-414D-90AD-FF77BC6C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3405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044"/>
                </a:solidFill>
              </a:defRPr>
            </a:pPr>
            <a:r>
              <a:rPr sz="1350" b="0">
                <a:solidFill>
                  <a:srgbClr val="585044"/>
                </a:solidFill>
              </a:rPr>
              <a:t>Editoriale Typografie und 3D-Karte schaffen Wiedererkennung.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36395cf6a4f93"/>
          <a:srcRect xmlns:a="http://schemas.openxmlformats.org/drawingml/2006/main" l="0" t="18082" r="0" b="18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685800"/>
            <a:ext cx="4933950" cy="2362200"/>
          </a:xfrm>
          <a:prstGeom xmlns:a="http://schemas.openxmlformats.org/drawingml/2006/main" prst="roundRect">
            <a:avLst>
              <a:gd name="adj" fmla="val 1210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fac082bcf47e7"/>
          <a:srcRect xmlns:a="http://schemas.openxmlformats.org/drawingml/2006/main" l="21646" t="0" r="216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3219450"/>
            <a:ext cx="2381250" cy="2800350"/>
          </a:xfrm>
          <a:prstGeom xmlns:a="http://schemas.openxmlformats.org/drawingml/2006/main" prst="roundRect">
            <a:avLst>
              <a:gd name="adj" fmla="val 1200"/>
            </a:avLst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2f3f8253c4810"/>
          <a:srcRect xmlns:a="http://schemas.openxmlformats.org/drawingml/2006/main" l="21673" t="0" r="216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3219450"/>
            <a:ext cx="2381250" cy="2800350"/>
          </a:xfrm>
          <a:prstGeom xmlns:a="http://schemas.openxmlformats.org/drawingml/2006/main" prst="roundRect">
            <a:avLst>
              <a:gd name="adj" fmla="val 1200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EE85E-9340-47DF-B103-8C895B61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20C7D-B012-49D9-82F6-A5D21F9E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1"/>
                </a:solidFill>
              </a:defRPr>
            </a:pPr>
            <a:r>
              <a:rPr sz="750" b="1">
                <a:solidFill>
                  <a:srgbClr val="8B8171"/>
                </a:solidFill>
              </a:rPr>
              <a:t>PAASLEBEN · ÜBERGABE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EA98C-F314-42F9-887B-8BF2C393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3953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20C6C-3394-4A6B-99B1-4B5BE6EC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171"/>
                </a:solidFill>
              </a:defRPr>
            </a:pPr>
            <a:r>
              <a:rPr sz="975" b="1">
                <a:solidFill>
                  <a:srgbClr val="8B8171"/>
                </a:solidFill>
              </a:rPr>
              <a:t>03 · BESUCHSREISE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2187C-8632-4AA0-B159-E1BFBA2B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211B"/>
                </a:solidFill>
              </a:defRPr>
            </a:pPr>
            <a:r>
              <a:rPr sz="3600" b="1">
                <a:solidFill>
                  <a:srgbClr val="24211B"/>
                </a:solidFill>
              </a:rPr>
              <a:t>Vom ersten Atemzug</a:t>
            </a:r>
          </a:p>
          <a:p xmlns:a="http://schemas.openxmlformats.org/drawingml/2006/main">
            <a:pPr algn="l">
              <a:defRPr sz="3600" b="1">
                <a:solidFill>
                  <a:srgbClr val="24211B"/>
                </a:solidFill>
              </a:defRPr>
            </a:pPr>
            <a:r>
              <a:rPr sz="3600" b="1">
                <a:solidFill>
                  <a:srgbClr val="24211B"/>
                </a:solidFill>
              </a:rPr>
              <a:t>zur Geschichte.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9AB16-8B89-43D2-90EA-017C717D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3812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2421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2D23D-37F2-42B3-AB80-5EE971D8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ECD8"/>
                </a:solidFill>
              </a:defRPr>
            </a:pPr>
            <a:r>
              <a:rPr sz="900" b="1">
                <a:solidFill>
                  <a:srgbClr val="F4ECD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89C63-1142-41C1-AB6C-291FC819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ECD8"/>
                </a:solidFill>
              </a:defRPr>
            </a:pPr>
            <a:r>
              <a:rPr sz="2025" b="1">
                <a:solidFill>
                  <a:srgbClr val="F4ECD8"/>
                </a:solidFill>
              </a:rPr>
              <a:t>Ankommen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46422-9620-4579-9D85-213528C2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CD8"/>
                </a:solidFill>
              </a:defRPr>
            </a:pPr>
            <a:r>
              <a:rPr sz="1275" b="0">
                <a:solidFill>
                  <a:srgbClr val="F4ECD8"/>
                </a:solidFill>
              </a:rPr>
              <a:t>Die Ladeinszenierung baut Ruhe und Erwartung auf.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24072-D976-4D6D-B145-30BD14C8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33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3232A"/>
                </a:solidFill>
              </a:defRPr>
            </a:pPr>
            <a:r>
              <a:rPr sz="1650" b="0">
                <a:solidFill>
                  <a:srgbClr val="B3232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818C4-4CBD-4FDD-90AB-4CCE1D27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952750"/>
            <a:ext cx="23812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7ED"/>
          </a:solidFill>
          <a:ln xmlns:a="http://schemas.openxmlformats.org/drawingml/2006/main" w="9525">
            <a:solidFill>
              <a:srgbClr val="C9BC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E8777-71C1-414B-9764-6EC54A42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232A"/>
                </a:solidFill>
              </a:defRPr>
            </a:pPr>
            <a:r>
              <a:rPr sz="900" b="1">
                <a:solidFill>
                  <a:srgbClr val="B3232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2CEB9-100B-4001-A385-113902F4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714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11B"/>
                </a:solidFill>
              </a:defRPr>
            </a:pPr>
            <a:r>
              <a:rPr sz="2025" b="1">
                <a:solidFill>
                  <a:srgbClr val="24211B"/>
                </a:solidFill>
              </a:rPr>
              <a:t>Überblick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B5A8F-E576-47C8-B9E2-2723286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24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044"/>
                </a:solidFill>
              </a:defRPr>
            </a:pPr>
            <a:r>
              <a:rPr sz="1275" b="0">
                <a:solidFill>
                  <a:srgbClr val="585044"/>
                </a:solidFill>
              </a:rPr>
              <a:t>Der sichtbare Einflug führt verständlich auf das Areal.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19F0A-069E-4787-9AE9-9E9E4AB4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33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3232A"/>
                </a:solidFill>
              </a:defRPr>
            </a:pPr>
            <a:r>
              <a:rPr sz="1650" b="0">
                <a:solidFill>
                  <a:srgbClr val="B3232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A5BD8-2DF3-49AD-85B6-5D8D229C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23812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7ED"/>
          </a:solidFill>
          <a:ln xmlns:a="http://schemas.openxmlformats.org/drawingml/2006/main" w="9525">
            <a:solidFill>
              <a:srgbClr val="C9BCA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15657-0A6B-4E0C-898B-A3716E0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232A"/>
                </a:solidFill>
              </a:defRPr>
            </a:pPr>
            <a:r>
              <a:rPr sz="900" b="1">
                <a:solidFill>
                  <a:srgbClr val="B3232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100FA-5AEE-4E25-83B0-043780B3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11B"/>
                </a:solidFill>
              </a:defRPr>
            </a:pPr>
            <a:r>
              <a:rPr sz="2025" b="1">
                <a:solidFill>
                  <a:srgbClr val="24211B"/>
                </a:solidFill>
              </a:rPr>
              <a:t>Entdecken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B5C8A-BA1F-4706-9241-658610F8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044"/>
                </a:solidFill>
              </a:defRPr>
            </a:pPr>
            <a:r>
              <a:rPr sz="1275" b="0">
                <a:solidFill>
                  <a:srgbClr val="585044"/>
                </a:solidFill>
              </a:rPr>
              <a:t>Schilder und mobile Ortsleiste machen Standpunkte zugänglich.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06FA8-4ECA-4040-B5D2-86F0518E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933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B3232A"/>
                </a:solidFill>
              </a:defRPr>
            </a:pPr>
            <a:r>
              <a:rPr sz="1650" b="0">
                <a:solidFill>
                  <a:srgbClr val="B3232A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8390E-9FE4-4852-A34A-D3DB7124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52750"/>
            <a:ext cx="23812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7ED"/>
          </a:solidFill>
          <a:ln xmlns:a="http://schemas.openxmlformats.org/drawingml/2006/main" w="9525">
            <a:solidFill>
              <a:srgbClr val="C9BC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61888-93C4-4751-A75B-28F1899B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62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232A"/>
                </a:solidFill>
              </a:defRPr>
            </a:pPr>
            <a:r>
              <a:rPr sz="900" b="1">
                <a:solidFill>
                  <a:srgbClr val="B3232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4C7FB-F543-4979-A347-DF52DAEC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14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11B"/>
                </a:solidFill>
              </a:defRPr>
            </a:pPr>
            <a:r>
              <a:rPr sz="2025" b="1">
                <a:solidFill>
                  <a:srgbClr val="24211B"/>
                </a:solidFill>
              </a:rPr>
              <a:t>Vertiefen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3FD8D-9686-47F9-A9A7-030E5681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324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044"/>
                </a:solidFill>
              </a:defRPr>
            </a:pPr>
            <a:r>
              <a:rPr sz="1275" b="0">
                <a:solidFill>
                  <a:srgbClr val="585044"/>
                </a:solidFill>
              </a:rPr>
              <a:t>Das Panel verbindet Ort, Bild, Text und nächsten Schritt.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DF025-8BCE-4628-80C2-7608E0C3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EF1903-06D8-469F-B8D6-16B2A420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1"/>
                </a:solidFill>
              </a:defRPr>
            </a:pPr>
            <a:r>
              <a:rPr sz="750" b="1">
                <a:solidFill>
                  <a:srgbClr val="8B8171"/>
                </a:solidFill>
              </a:rPr>
              <a:t>PAASLEBEN · ÜBERGABE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703DC-64FE-40EA-8848-0EB6DD24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88076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421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14e1ad8054adc"/>
          <a:srcRect xmlns:a="http://schemas.openxmlformats.org/drawingml/2006/main" l="2593" t="0" r="25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E3860-53CC-4577-9CCC-2BEDF787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49F30-CCFC-47C3-9D24-139F2162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809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24211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48C2E-50E0-44DE-9300-C2239571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4ECD8"/>
                </a:solidFill>
              </a:defRPr>
            </a:pPr>
            <a:r>
              <a:rPr sz="750" b="1">
                <a:solidFill>
                  <a:srgbClr val="F4ECD8"/>
                </a:solidFill>
              </a:rPr>
              <a:t>DESKTOP-WEBSITE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4CEBE-761D-4213-AB14-647181C0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6858000" cy="1600200"/>
          </a:xfrm>
          <a:prstGeom xmlns:a="http://schemas.openxmlformats.org/drawingml/2006/main" prst="roundRect">
            <a:avLst>
              <a:gd name="adj" fmla="val 2381"/>
            </a:avLst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BE291-C4FC-46CA-AF15-C27035FB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Die Karte bleibt Bühne.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98DF5-5370-45A5-B6AB-E5EE04D2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ECD8"/>
                </a:solidFill>
              </a:defRPr>
            </a:pPr>
            <a:r>
              <a:rPr sz="1500" b="0">
                <a:solidFill>
                  <a:srgbClr val="F4ECD8"/>
                </a:solidFill>
              </a:rPr>
              <a:t>Schilder erhalten Tiefe, überlagerte Karten treten dezent zurück und kommen bei Fokus sauber nach vorn.</a:t>
            </a:r>
          </a:p>
        </p:txBody>
      </p:sp>
    </p:spTree>
    <p:extLst>
      <p:ext uri="{BB962C8B-B14F-4D97-AF65-F5344CB8AC3E}">
        <p14:creationId xmlns:p14="http://schemas.microsoft.com/office/powerpoint/2010/main" val="9103533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5F570-5443-467C-B9CA-F692D468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171"/>
                </a:solidFill>
              </a:defRPr>
            </a:pPr>
            <a:r>
              <a:rPr sz="975" b="1">
                <a:solidFill>
                  <a:srgbClr val="8B8171"/>
                </a:solidFill>
              </a:rPr>
              <a:t>04 · INHALTE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53D97-5E9B-4B2A-9C47-49A41A3B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4211B"/>
                </a:solidFill>
              </a:defRPr>
            </a:pPr>
            <a:r>
              <a:rPr sz="3150" b="1">
                <a:solidFill>
                  <a:srgbClr val="24211B"/>
                </a:solidFill>
              </a:rPr>
              <a:t>Geschichten wachsen</a:t>
            </a:r>
          </a:p>
          <a:p xmlns:a="http://schemas.openxmlformats.org/drawingml/2006/main">
            <a:pPr algn="l">
              <a:defRPr sz="3150" b="1">
                <a:solidFill>
                  <a:srgbClr val="24211B"/>
                </a:solidFill>
              </a:defRPr>
            </a:pPr>
            <a:r>
              <a:rPr sz="3150" b="1">
                <a:solidFill>
                  <a:srgbClr val="24211B"/>
                </a:solidFill>
              </a:rPr>
              <a:t>aus dem Gelände.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62502-21DF-498F-B757-44AEF79D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23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5044"/>
                </a:solidFill>
              </a:defRPr>
            </a:pPr>
            <a:r>
              <a:rPr sz="1500" b="0">
                <a:solidFill>
                  <a:srgbClr val="585044"/>
                </a:solidFill>
              </a:rPr>
              <a:t>Der Übergang bleibt räumlich: Die Szene wird zur Kulisse, der redaktionelle Inhalt übernimmt erst beim Lesen.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D933E-9CC2-4BF9-AA1B-F0A563BF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4793A-BD22-4B52-9A15-DE2CDB7C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11B"/>
                </a:solidFill>
              </a:defRPr>
            </a:pPr>
            <a:r>
              <a:rPr sz="1425" b="1">
                <a:solidFill>
                  <a:srgbClr val="24211B"/>
                </a:solidFill>
              </a:rPr>
              <a:t>Ort bleibt sichtbar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CA5D0-EAF4-4C34-9A05-C849461D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5044"/>
                </a:solidFill>
              </a:defRPr>
            </a:pPr>
            <a:r>
              <a:rPr sz="1125" b="0">
                <a:solidFill>
                  <a:srgbClr val="585044"/>
                </a:solidFill>
              </a:rPr>
              <a:t>Kein harter Medienbruch.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D7B8A-A73F-46C8-9891-27F1CA8B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FA792-C219-415E-9C27-B6F1A3E0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11B"/>
                </a:solidFill>
              </a:defRPr>
            </a:pPr>
            <a:r>
              <a:rPr sz="1425" b="1">
                <a:solidFill>
                  <a:srgbClr val="24211B"/>
                </a:solidFill>
              </a:rPr>
              <a:t>Inhalt kommt früher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F340D-474A-4DFD-BADF-2B9CE234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5044"/>
                </a:solidFill>
              </a:defRPr>
            </a:pPr>
            <a:r>
              <a:rPr sz="1125" b="0">
                <a:solidFill>
                  <a:srgbClr val="585044"/>
                </a:solidFill>
              </a:rPr>
              <a:t>Bilder und Text sind schneller erreichbar.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A4818-F9DE-4F5B-90A5-C8320D2C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A921D-8289-4D0D-8653-5AB0DAB8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11B"/>
                </a:solidFill>
              </a:defRPr>
            </a:pPr>
            <a:r>
              <a:rPr sz="1425" b="1">
                <a:solidFill>
                  <a:srgbClr val="24211B"/>
                </a:solidFill>
              </a:rPr>
              <a:t>Lesetext bleibt kopierbar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6B963-EF13-47D5-B134-40C6074C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05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5044"/>
                </a:solidFill>
              </a:defRPr>
            </a:pPr>
            <a:r>
              <a:rPr sz="1125" b="0">
                <a:solidFill>
                  <a:srgbClr val="585044"/>
                </a:solidFill>
              </a:rPr>
              <a:t>Auswahl nur im eigentlichen Inhalt.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d22451c6e46d6"/>
          <a:srcRect xmlns:a="http://schemas.openxmlformats.org/drawingml/2006/main" l="19859" t="0" r="198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1150" y="609600"/>
            <a:ext cx="6115050" cy="5410200"/>
          </a:xfrm>
          <a:prstGeom xmlns:a="http://schemas.openxmlformats.org/drawingml/2006/main" prst="roundRect">
            <a:avLst>
              <a:gd name="adj" fmla="val 704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91CB5-40C7-45AB-BB58-B48B1538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2819E-781A-41E4-9246-DA88658C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1"/>
                </a:solidFill>
              </a:defRPr>
            </a:pPr>
            <a:r>
              <a:rPr sz="750" b="1">
                <a:solidFill>
                  <a:srgbClr val="8B8171"/>
                </a:solidFill>
              </a:rPr>
              <a:t>PAASLEBEN · ÜBERGABE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88581-5161-40F3-AE5F-9525402D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2198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953EB-4DAD-4E2E-A32D-70EEADA5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171"/>
                </a:solidFill>
              </a:defRPr>
            </a:pPr>
            <a:r>
              <a:rPr sz="975" b="1">
                <a:solidFill>
                  <a:srgbClr val="8B8171"/>
                </a:solidFill>
              </a:rPr>
              <a:t>05 · 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1E1F2-DF50-4E3D-8CC1-FF0DDAE1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211B"/>
                </a:solidFill>
              </a:defRPr>
            </a:pPr>
            <a:r>
              <a:rPr sz="3600" b="1">
                <a:solidFill>
                  <a:srgbClr val="24211B"/>
                </a:solidFill>
              </a:rPr>
              <a:t>Weiterblättern,</a:t>
            </a:r>
          </a:p>
          <a:p xmlns:a="http://schemas.openxmlformats.org/drawingml/2006/main">
            <a:pPr algn="l">
              <a:defRPr sz="3600" b="1">
                <a:solidFill>
                  <a:srgbClr val="24211B"/>
                </a:solidFill>
              </a:defRPr>
            </a:pPr>
            <a:r>
              <a:rPr sz="3600" b="1">
                <a:solidFill>
                  <a:srgbClr val="24211B"/>
                </a:solidFill>
              </a:rPr>
              <a:t>ohne zu schließen.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4E134-927A-4B99-8D5F-944BBFF3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5044"/>
                </a:solidFill>
              </a:defRPr>
            </a:pPr>
            <a:r>
              <a:rPr sz="1650" b="0">
                <a:solidFill>
                  <a:srgbClr val="585044"/>
                </a:solidFill>
              </a:rPr>
              <a:t>Beim Öffnen verwandelt sich die Ortsleiste in zwei klare Wege. Zurück und Weiter bleiben unten erreichbar und ziehen sich beim tieferen Lesen zurück.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EB0CE-EB8A-46BA-A56A-317D3092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3232A"/>
                </a:solidFill>
              </a:defRPr>
            </a:pPr>
            <a:r>
              <a:rPr sz="1125" b="1">
                <a:solidFill>
                  <a:srgbClr val="B3232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DDDB6-EAFA-4364-B228-9D1BB25E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62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11B"/>
                </a:solidFill>
              </a:defRPr>
            </a:pPr>
            <a:r>
              <a:rPr sz="1875" b="1">
                <a:solidFill>
                  <a:srgbClr val="24211B"/>
                </a:solidFill>
              </a:rPr>
              <a:t>Ein Finger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BCD0E-225D-48B7-9C04-13B42D07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044"/>
                </a:solidFill>
              </a:defRPr>
            </a:pPr>
            <a:r>
              <a:rPr sz="1350" b="0">
                <a:solidFill>
                  <a:srgbClr val="585044"/>
                </a:solidFill>
              </a:rPr>
              <a:t>Bewegen ohne versehentliches Zwei-Finger-Zoomen.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8F158-9365-49A0-9533-634DB916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3232A"/>
                </a:solidFill>
              </a:defRPr>
            </a:pPr>
            <a:r>
              <a:rPr sz="1125" b="1">
                <a:solidFill>
                  <a:srgbClr val="B3232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E3EBB-E6BE-43A4-8359-3A370271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14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11B"/>
                </a:solidFill>
              </a:defRPr>
            </a:pPr>
            <a:r>
              <a:rPr sz="1875" b="1">
                <a:solidFill>
                  <a:srgbClr val="24211B"/>
                </a:solidFill>
              </a:rPr>
              <a:t>Klare Grenzen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B3561-6E9C-426A-B5B7-303E412B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76850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044"/>
                </a:solidFill>
              </a:defRPr>
            </a:pPr>
            <a:r>
              <a:rPr sz="1350" b="0">
                <a:solidFill>
                  <a:srgbClr val="585044"/>
                </a:solidFill>
              </a:rPr>
              <a:t>Weniger Leerlauf außerhalb des eigentlichen Areals.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A6839-5BBF-4E18-ACAD-93BE3C58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6250"/>
            <a:ext cx="5010150" cy="5715000"/>
          </a:xfrm>
          <a:prstGeom xmlns:a="http://schemas.openxmlformats.org/drawingml/2006/main" prst="roundRect">
            <a:avLst>
              <a:gd name="adj" fmla="val 1141"/>
            </a:avLst>
          </a:prstGeom>
          <a:solidFill xmlns:a="http://schemas.openxmlformats.org/drawingml/2006/main">
            <a:srgbClr val="E7D8B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61f07cf094c59"/>
          <a:stretch xmlns:a="http://schemas.openxmlformats.org/drawingml/2006/main"/>
        </p:blipFill>
        <p:spPr>
          <a:xfrm xmlns:a="http://schemas.openxmlformats.org/drawingml/2006/main">
            <a:off x="7736663" y="723900"/>
            <a:ext cx="2528924" cy="5219700"/>
          </a:xfrm>
          <a:prstGeom xmlns:a="http://schemas.openxmlformats.org/drawingml/2006/main" prst="roundRect">
            <a:avLst>
              <a:gd name="adj" fmla="val 866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9864F-3D78-4F7A-9B21-F90A1417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8382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24211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319FD-1D89-4D70-B220-23DB6609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9144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4ECD8"/>
                </a:solidFill>
              </a:defRPr>
            </a:pPr>
            <a:r>
              <a:rPr sz="750" b="1">
                <a:solidFill>
                  <a:srgbClr val="F4ECD8"/>
                </a:solidFill>
              </a:rPr>
              <a:t>MOBILE WEBSITE · VORSCHAU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939D9-EDF4-4B0F-8301-9CD73200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694C3-C807-4865-958B-7204FBE3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1"/>
                </a:solidFill>
              </a:defRPr>
            </a:pPr>
            <a:r>
              <a:rPr sz="750" b="1">
                <a:solidFill>
                  <a:srgbClr val="8B8171"/>
                </a:solidFill>
              </a:rPr>
              <a:t>PAASLEBEN · ÜBERGABE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C4AE9-ACEF-41B4-AC88-2C6F116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51825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E5981-C454-4FE7-AAE5-E6269D4C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171"/>
                </a:solidFill>
              </a:defRPr>
            </a:pPr>
            <a:r>
              <a:rPr sz="975" b="1">
                <a:solidFill>
                  <a:srgbClr val="8B8171"/>
                </a:solidFill>
              </a:rPr>
              <a:t>06 · BEWEGUNG &amp; ATMOSPHÄRE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23E33-411E-4D5F-B806-14337FD9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211B"/>
                </a:solidFill>
              </a:defRPr>
            </a:pPr>
            <a:r>
              <a:rPr sz="3750" b="1">
                <a:solidFill>
                  <a:srgbClr val="24211B"/>
                </a:solidFill>
              </a:rPr>
              <a:t>Lebendig – niemals unruhig.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dea064af64d9d"/>
          <a:srcRect xmlns:a="http://schemas.openxmlformats.org/drawingml/2006/main" l="7020" t="0" r="70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90750"/>
            <a:ext cx="5219700" cy="3238500"/>
          </a:xfrm>
          <a:prstGeom xmlns:a="http://schemas.openxmlformats.org/drawingml/2006/main" prst="roundRect">
            <a:avLst>
              <a:gd name="adj" fmla="val 1176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82d23296b4ddb"/>
          <a:srcRect xmlns:a="http://schemas.openxmlformats.org/drawingml/2006/main" l="0" t="2778" r="0" b="2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4100" y="2190750"/>
            <a:ext cx="2571750" cy="3238500"/>
          </a:xfrm>
          <a:prstGeom xmlns:a="http://schemas.openxmlformats.org/drawingml/2006/main" prst="roundRect">
            <a:avLst>
              <a:gd name="adj" fmla="val 148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909D5-8474-42F3-AE93-08EE3690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571750" cy="3238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2421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F69D4-4E0F-4D61-BBD0-7701919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ECD8"/>
                </a:solidFill>
              </a:defRPr>
            </a:pPr>
            <a:r>
              <a:rPr sz="900" b="1">
                <a:solidFill>
                  <a:srgbClr val="F4ECD8"/>
                </a:solidFill>
              </a:rPr>
              <a:t>STÖRCHE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E65C2-4434-448B-B228-A7F4FA0C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43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max.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B50B1-89BB-4853-9C9E-3225FB4E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719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CD8"/>
                </a:solidFill>
              </a:defRPr>
            </a:pPr>
            <a:r>
              <a:rPr sz="1350" b="0">
                <a:solidFill>
                  <a:srgbClr val="F4ECD8"/>
                </a:solidFill>
              </a:rPr>
              <a:t>rund ⅓ der bisherigen Größe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79E68-4FFC-47CD-8035-43206123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76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D8B9"/>
                </a:solidFill>
              </a:defRPr>
            </a:pPr>
            <a:r>
              <a:rPr sz="1125" b="0">
                <a:solidFill>
                  <a:srgbClr val="E7D8B9"/>
                </a:solidFill>
              </a:rPr>
              <a:t>meist einzeln · variable Routen · eindeutige Flugrichtung · echte Flügelbewegung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59A12-95F4-420F-916D-55CF494A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5044"/>
                </a:solidFill>
              </a:defRPr>
            </a:pPr>
            <a:r>
              <a:rPr sz="1425" b="0">
                <a:solidFill>
                  <a:srgbClr val="585044"/>
                </a:solidFill>
              </a:rPr>
              <a:t>Ladeanimation und Einflug sind nun ein zusammenhängender Moment; Bewegungen bleiben kurz, weich und zweckgebunden.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23242-6665-4658-8CA0-BE8E26F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414D3-FEE9-4E9C-ACE8-28BF331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1"/>
                </a:solidFill>
              </a:defRPr>
            </a:pPr>
            <a:r>
              <a:rPr sz="750" b="1">
                <a:solidFill>
                  <a:srgbClr val="8B8171"/>
                </a:solidFill>
              </a:rPr>
              <a:t>PAASLEBEN · ÜBERGABE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D1EE8-7C21-46B5-9560-C8C10209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74094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4719D-F032-44C6-80D4-0D003B2B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171"/>
                </a:solidFill>
              </a:defRPr>
            </a:pPr>
            <a:r>
              <a:rPr sz="975" b="1">
                <a:solidFill>
                  <a:srgbClr val="8B8171"/>
                </a:solidFill>
              </a:rPr>
              <a:t>07 · PFLEGE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E4AEA-0F43-490B-975B-9F7AF864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211B"/>
                </a:solidFill>
              </a:defRPr>
            </a:pPr>
            <a:r>
              <a:rPr sz="3600" b="1">
                <a:solidFill>
                  <a:srgbClr val="24211B"/>
                </a:solidFill>
              </a:rPr>
              <a:t>Eine vollständige Editing Suite.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8F836-9531-4766-977F-C8152900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5044"/>
                </a:solidFill>
              </a:defRPr>
            </a:pPr>
            <a:r>
              <a:rPr sz="1575" b="0">
                <a:solidFill>
                  <a:srgbClr val="585044"/>
                </a:solidFill>
              </a:rPr>
              <a:t>Der Editor wurde nicht vereinfacht oder neu erfunden. Er behält Karte, Gizmos, Formular, Fotoverwaltung und direkte End-Ansicht – ergänzt um eine klar gekennzeichnete Mobile-Vorschau.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b6e70124d4bfb"/>
          <a:srcRect xmlns:a="http://schemas.openxmlformats.org/drawingml/2006/main" l="0" t="22289" r="0" b="22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647950"/>
            <a:ext cx="10820400" cy="3371850"/>
          </a:xfrm>
          <a:prstGeom xmlns:a="http://schemas.openxmlformats.org/drawingml/2006/main" prst="roundRect">
            <a:avLst>
              <a:gd name="adj" fmla="val 113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5D511-9D0B-4E37-8217-3E914B5D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24211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4753D-DEE5-4E18-992C-F691FA43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4ECD8"/>
                </a:solidFill>
              </a:defRPr>
            </a:pPr>
            <a:r>
              <a:rPr sz="750" b="1">
                <a:solidFill>
                  <a:srgbClr val="F4ECD8"/>
                </a:solidFill>
              </a:rPr>
              <a:t>EDITOR · VERWALTUNG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BC0CA-2AF5-4E0D-84FA-90569611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86EFD-2B46-44DD-A5D9-5308246B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1"/>
                </a:solidFill>
              </a:defRPr>
            </a:pPr>
            <a:r>
              <a:rPr sz="750" b="1">
                <a:solidFill>
                  <a:srgbClr val="8B8171"/>
                </a:solidFill>
              </a:rPr>
              <a:t>PAASLEBEN · ÜBERGABE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BEA9B-0318-4D7C-95B7-25B212D8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140384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4D20F-6AC2-4AB1-869C-C514B7AC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171"/>
                </a:solidFill>
              </a:defRPr>
            </a:pPr>
            <a:r>
              <a:rPr sz="975" b="1">
                <a:solidFill>
                  <a:srgbClr val="8B8171"/>
                </a:solidFill>
              </a:rPr>
              <a:t>08 · SO ARBEITEST DU DAMIT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CDC1F-60F9-4700-9888-4F153268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4211B"/>
                </a:solidFill>
              </a:defRPr>
            </a:pPr>
            <a:r>
              <a:rPr sz="3600" b="1">
                <a:solidFill>
                  <a:srgbClr val="24211B"/>
                </a:solidFill>
              </a:rPr>
              <a:t>In vier Schritten aktualisiert.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DF36E-B30F-45C3-96B8-83659085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05400" cy="14859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4ECD8"/>
          </a:solidFill>
          <a:ln xmlns:a="http://schemas.openxmlformats.org/drawingml/2006/main" w="9525">
            <a:solidFill>
              <a:srgbClr val="C9BCA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F483B-3360-4E69-A332-5E4EFBA3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3232A"/>
                </a:solidFill>
              </a:defRPr>
            </a:pPr>
            <a:r>
              <a:rPr sz="2250" b="1">
                <a:solidFill>
                  <a:srgbClr val="B3232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AD929-7468-4237-83D3-2E85A720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86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11B"/>
                </a:solidFill>
              </a:defRPr>
            </a:pPr>
            <a:r>
              <a:rPr sz="1950" b="1">
                <a:solidFill>
                  <a:srgbClr val="24211B"/>
                </a:solidFill>
              </a:rPr>
              <a:t>Editor öffnen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6ECA1-B24E-4363-822E-B2699290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718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044"/>
                </a:solidFill>
              </a:defRPr>
            </a:pPr>
            <a:r>
              <a:rPr sz="1350" b="0">
                <a:solidFill>
                  <a:srgbClr val="585044"/>
                </a:solidFill>
              </a:rPr>
              <a:t>Website-Adresse + /admin.html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EEE5F-D7E2-4182-86B8-8D06F06D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105400" cy="14859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4ECD8"/>
          </a:solidFill>
          <a:ln xmlns:a="http://schemas.openxmlformats.org/drawingml/2006/main" w="9525">
            <a:solidFill>
              <a:srgbClr val="C9BCA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C530C-1D52-4D0A-B445-8EFE5FC0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557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3232A"/>
                </a:solidFill>
              </a:defRPr>
            </a:pPr>
            <a:r>
              <a:rPr sz="2250" b="1">
                <a:solidFill>
                  <a:srgbClr val="B3232A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7F4FD-D092-48F7-9A4E-EA600C3B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86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11B"/>
                </a:solidFill>
              </a:defRPr>
            </a:pPr>
            <a:r>
              <a:rPr sz="1950" b="1">
                <a:solidFill>
                  <a:srgbClr val="24211B"/>
                </a:solidFill>
              </a:rPr>
              <a:t>Mit Google anmelden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0AAD3-5B3F-4608-A11E-74BB59C1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718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044"/>
                </a:solidFill>
              </a:defRPr>
            </a:pPr>
            <a:r>
              <a:rPr sz="1350" b="0">
                <a:solidFill>
                  <a:srgbClr val="585044"/>
                </a:solidFill>
              </a:rPr>
              <a:t>Freigeschaltetes Konto verwenden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790AC8-4480-4600-88D9-A70CC650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5105400" cy="14859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4ECD8"/>
          </a:solidFill>
          <a:ln xmlns:a="http://schemas.openxmlformats.org/drawingml/2006/main" w="9525">
            <a:solidFill>
              <a:srgbClr val="C9B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F0D44-0808-4A4E-9C7B-7EB9A55D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3232A"/>
                </a:solidFill>
              </a:defRPr>
            </a:pPr>
            <a:r>
              <a:rPr sz="2250" b="1">
                <a:solidFill>
                  <a:srgbClr val="B3232A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7B5FF-60E3-46EE-9D21-1B40FD3A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95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11B"/>
                </a:solidFill>
              </a:defRPr>
            </a:pPr>
            <a:r>
              <a:rPr sz="1950" b="1">
                <a:solidFill>
                  <a:srgbClr val="24211B"/>
                </a:solidFill>
              </a:rPr>
              <a:t>Ort auswählen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BDEF7-638F-42E9-B7A7-E873203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8157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044"/>
                </a:solidFill>
              </a:defRPr>
            </a:pPr>
            <a:r>
              <a:rPr sz="1350" b="0">
                <a:solidFill>
                  <a:srgbClr val="585044"/>
                </a:solidFill>
              </a:rPr>
              <a:t>Text, Position, Sichtbarkeit oder Fotos anpassen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4338EE-22A4-45C7-9F4D-72477A2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5105400" cy="14859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4ECD8"/>
          </a:solidFill>
          <a:ln xmlns:a="http://schemas.openxmlformats.org/drawingml/2006/main" w="9525">
            <a:solidFill>
              <a:srgbClr val="C9BC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C4B56-F18B-4ED3-B01A-26EE5518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05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3232A"/>
                </a:solidFill>
              </a:defRPr>
            </a:pPr>
            <a:r>
              <a:rPr sz="2250" b="1">
                <a:solidFill>
                  <a:srgbClr val="B3232A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321C4-3A60-44D5-8715-2DF52922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95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211B"/>
                </a:solidFill>
              </a:defRPr>
            </a:pPr>
            <a:r>
              <a:rPr sz="1950" b="1">
                <a:solidFill>
                  <a:srgbClr val="24211B"/>
                </a:solidFill>
              </a:rPr>
              <a:t>End-Ansicht prüfen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A4B9B-DFF6-412E-AD4F-1707D94D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8157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5044"/>
                </a:solidFill>
              </a:defRPr>
            </a:pPr>
            <a:r>
              <a:rPr sz="1350" b="0">
                <a:solidFill>
                  <a:srgbClr val="585044"/>
                </a:solidFill>
              </a:rPr>
              <a:t>Desktop oder Mobile wählen – Änderungen sind direkt live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FF1BD-8CD3-431C-AFE0-0B674E9C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25C5E-22A8-4EBA-B22D-85436E0A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1"/>
                </a:solidFill>
              </a:defRPr>
            </a:pPr>
            <a:r>
              <a:rPr sz="750" b="1">
                <a:solidFill>
                  <a:srgbClr val="8B8171"/>
                </a:solidFill>
              </a:rPr>
              <a:t>PAASLEBEN · ÜBERGABE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0A08FA-5E92-4168-80F6-F3A4297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60253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63E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12B03-8D74-45DD-8C3C-E0D60437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D8B9"/>
                </a:solidFill>
              </a:defRPr>
            </a:pPr>
            <a:r>
              <a:rPr sz="975" b="1">
                <a:solidFill>
                  <a:srgbClr val="E7D8B9"/>
                </a:solidFill>
              </a:rPr>
              <a:t>09 · WAS IM HINTERGRUND GESCHÜTZT 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EB027-DD7E-48A3-8963-E05F715C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19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Einfach zu bedienen.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Sauber abgesichert.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14D12-9264-4BD0-A621-9D5F3E90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D8B9"/>
                </a:solidFill>
              </a:defRPr>
            </a:pPr>
            <a:r>
              <a:rPr sz="900" b="1">
                <a:solidFill>
                  <a:srgbClr val="E7D8B9"/>
                </a:solidFill>
              </a:rPr>
              <a:t>INHALTE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DD313-4D9E-4D13-831E-721E686E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6702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65D74-62C2-4D0F-B722-8693B3A7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43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ECD8"/>
                </a:solidFill>
              </a:defRPr>
            </a:pPr>
            <a:r>
              <a:rPr sz="1425" b="0">
                <a:solidFill>
                  <a:srgbClr val="F4ECD8"/>
                </a:solidFill>
              </a:rPr>
              <a:t>Texte und Fotos werden in Firestore gespeichert und sind ohne neuen Website-Build sofort sichtbar.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91A3F-EAB5-4BE9-AEED-179C958E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D8B9"/>
                </a:solidFill>
              </a:defRPr>
            </a:pPr>
            <a:r>
              <a:rPr sz="900" b="1">
                <a:solidFill>
                  <a:srgbClr val="E7D8B9"/>
                </a:solidFill>
              </a:rPr>
              <a:t>ZUGRIFF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8A8F8-B16A-428D-987C-46C8B2BA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4807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060CE-5380-45A1-86B0-F2BC7BD4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ECD8"/>
                </a:solidFill>
              </a:defRPr>
            </a:pPr>
            <a:r>
              <a:rPr sz="1425" b="0">
                <a:solidFill>
                  <a:srgbClr val="F4ECD8"/>
                </a:solidFill>
              </a:rPr>
              <a:t>Nur freigeschaltete Google-Konten dürfen im Editor schreiben.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BA288-D6E6-441F-AF2E-297D12AD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D8B9"/>
                </a:solidFill>
              </a:defRPr>
            </a:pPr>
            <a:r>
              <a:rPr sz="900" b="1">
                <a:solidFill>
                  <a:srgbClr val="E7D8B9"/>
                </a:solidFill>
              </a:rPr>
              <a:t>SICHERHEIT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2AB04-F0F9-40D4-B6FF-3EA9C01C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2912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C23A6-FA9C-4BB9-AEA8-6C45A63A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ECD8"/>
                </a:solidFill>
              </a:defRPr>
            </a:pPr>
            <a:r>
              <a:rPr sz="1425" b="0">
                <a:solidFill>
                  <a:srgbClr val="F4ECD8"/>
                </a:solidFill>
              </a:rPr>
              <a:t>Neue Orte starten unsichtbar und werden erst nach Prüfung veröffentlicht.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5282D-842B-4D95-B65A-5B350895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D8B9"/>
                </a:solidFill>
              </a:defRPr>
            </a:pPr>
            <a:r>
              <a:rPr sz="900" b="1">
                <a:solidFill>
                  <a:srgbClr val="E7D8B9"/>
                </a:solidFill>
              </a:rPr>
              <a:t>AUSLIEFERUNG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7917C-BE2E-4C9D-AE46-6945DD59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1017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8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EE637-8DDB-4250-B005-74269FA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ECD8"/>
                </a:solidFill>
              </a:defRPr>
            </a:pPr>
            <a:r>
              <a:rPr sz="1425" b="0">
                <a:solidFill>
                  <a:srgbClr val="F4ECD8"/>
                </a:solidFill>
              </a:rPr>
              <a:t>Ein Push auf main baut und veröffentlicht Website und Editor automatisch.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C958A-D211-4EA7-A0FC-809F30E1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D8B9"/>
                </a:solidFill>
              </a:defRPr>
            </a:pPr>
            <a:r>
              <a:rPr sz="1200" b="0">
                <a:solidFill>
                  <a:srgbClr val="E7D8B9"/>
                </a:solidFill>
              </a:rPr>
              <a:t>Wichtig: Zugangsdaten gehören nie in Präsentationen oder E-Mails. Konten werden separat freigeschaltet.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19E2D-4091-4BAD-97C9-5539ECCF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23E7B-6F9C-4784-9235-08AA1877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1"/>
                </a:solidFill>
              </a:defRPr>
            </a:pPr>
            <a:r>
              <a:rPr sz="750" b="1">
                <a:solidFill>
                  <a:srgbClr val="8B8171"/>
                </a:solidFill>
              </a:rPr>
              <a:t>PAASLEBEN · BETRIEB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BABAD-C77E-4C99-8F32-DB9A723E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22094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EC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2E6ED-9101-44E9-A259-71C31408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B8171"/>
                </a:solidFill>
              </a:defRPr>
            </a:pPr>
            <a:r>
              <a:rPr sz="975" b="1">
                <a:solidFill>
                  <a:srgbClr val="8B8171"/>
                </a:solidFill>
              </a:rPr>
              <a:t>10 · ÜBERGABE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52DB4-EBCF-4F76-B4F7-965883E6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47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4211B"/>
                </a:solidFill>
              </a:defRPr>
            </a:pPr>
            <a:r>
              <a:rPr sz="4200" b="1">
                <a:solidFill>
                  <a:srgbClr val="24211B"/>
                </a:solidFill>
              </a:rPr>
              <a:t>Der Ort ist bereit.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FF60E-D8AF-4B51-B8E3-3CE83DC1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11B"/>
                </a:solidFill>
              </a:defRPr>
            </a:pPr>
            <a:r>
              <a:rPr sz="1875" b="1">
                <a:solidFill>
                  <a:srgbClr val="24211B"/>
                </a:solidFill>
              </a:rPr>
              <a:t>Besuchen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3AD38-BF0D-4B16-9051-3A18A14E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044"/>
                </a:solidFill>
              </a:defRPr>
            </a:pPr>
            <a:r>
              <a:rPr sz="1275" b="0">
                <a:solidFill>
                  <a:srgbClr val="585044"/>
                </a:solidFill>
              </a:rPr>
              <a:t>professorengineergit.github.io/</a:t>
            </a:r>
          </a:p>
          <a:p xmlns:a="http://schemas.openxmlformats.org/drawingml/2006/main">
            <a:pPr algn="l">
              <a:defRPr sz="1275" b="0">
                <a:solidFill>
                  <a:srgbClr val="585044"/>
                </a:solidFill>
              </a:defRPr>
            </a:pPr>
            <a:r>
              <a:rPr sz="1275" b="0">
                <a:solidFill>
                  <a:srgbClr val="585044"/>
                </a:solidFill>
              </a:rPr>
              <a:t>Paasleben--Splat-Styling-Tester/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E014D-171F-435B-9384-D02CDBC1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11B"/>
                </a:solidFill>
              </a:defRPr>
            </a:pPr>
            <a:r>
              <a:rPr sz="1875" b="1">
                <a:solidFill>
                  <a:srgbClr val="24211B"/>
                </a:solidFill>
              </a:rPr>
              <a:t>Bearbeiten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A6208-EC25-4617-A553-762F0E7C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5044"/>
                </a:solidFill>
              </a:defRPr>
            </a:pPr>
            <a:r>
              <a:rPr sz="1275" b="0">
                <a:solidFill>
                  <a:srgbClr val="585044"/>
                </a:solidFill>
              </a:rPr>
              <a:t>Website-Adresse + /admin.html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62027-5925-431D-BA89-BA311171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819150"/>
            <a:ext cx="5314950" cy="5048250"/>
          </a:xfrm>
          <a:prstGeom xmlns:a="http://schemas.openxmlformats.org/drawingml/2006/main" prst="roundRect">
            <a:avLst>
              <a:gd name="adj" fmla="val 755"/>
            </a:avLst>
          </a:prstGeom>
          <a:solidFill xmlns:a="http://schemas.openxmlformats.org/drawingml/2006/main">
            <a:srgbClr val="FBF7ED"/>
          </a:solidFill>
          <a:ln xmlns:a="http://schemas.openxmlformats.org/drawingml/2006/main" w="9525">
            <a:solidFill>
              <a:srgbClr val="C9BCA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ABA8E-105F-4CD2-83D0-1C2C9ED3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232A"/>
                </a:solidFill>
              </a:defRPr>
            </a:pPr>
            <a:r>
              <a:rPr sz="900" b="1">
                <a:solidFill>
                  <a:srgbClr val="B3232A"/>
                </a:solidFill>
              </a:rPr>
              <a:t>DREI MERKSÄTZE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F5CC1-C0ED-4762-B186-BC05AE4D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33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3232A"/>
                </a:solidFill>
              </a:defRPr>
            </a:pPr>
            <a:r>
              <a:rPr sz="1050" b="1">
                <a:solidFill>
                  <a:srgbClr val="B3232A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7EBF4-52C6-4AE4-B28F-E02A269F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11B"/>
                </a:solidFill>
              </a:defRPr>
            </a:pPr>
            <a:r>
              <a:rPr sz="2175" b="1">
                <a:solidFill>
                  <a:srgbClr val="24211B"/>
                </a:solidFill>
              </a:rPr>
              <a:t>Die Karte führt.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08287-1511-477B-9CCB-4F19B5DB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24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3232A"/>
                </a:solidFill>
              </a:defRPr>
            </a:pPr>
            <a:r>
              <a:rPr sz="1050" b="1">
                <a:solidFill>
                  <a:srgbClr val="B3232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D9244-908C-4C31-84CC-AF644286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11B"/>
                </a:solidFill>
              </a:defRPr>
            </a:pPr>
            <a:r>
              <a:rPr sz="2175" b="1">
                <a:solidFill>
                  <a:srgbClr val="24211B"/>
                </a:solidFill>
              </a:rPr>
              <a:t>Der Inhalt vertieft.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C0F82-2A78-47F6-85C0-4EC85455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148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3232A"/>
                </a:solidFill>
              </a:defRPr>
            </a:pPr>
            <a:r>
              <a:rPr sz="1050" b="1">
                <a:solidFill>
                  <a:srgbClr val="B3232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682DF-636A-49B0-BA1D-4215B13C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11B"/>
                </a:solidFill>
              </a:defRPr>
            </a:pPr>
            <a:r>
              <a:rPr sz="2175" b="1">
                <a:solidFill>
                  <a:srgbClr val="24211B"/>
                </a:solidFill>
              </a:rPr>
              <a:t>Der Editor hält alles lebendig.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15849-EC1E-4E21-8422-A183A8AB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81600"/>
            <a:ext cx="2381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24211B"/>
          </a:solidFill>
          <a:ln xmlns:a="http://schemas.openxmlformats.org/drawingml/2006/main" w="9525">
            <a:solidFill>
              <a:srgbClr val="24211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C9336-ECE0-4901-8AF9-48CA76C7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578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4ECD8"/>
                </a:solidFill>
              </a:defRPr>
            </a:pPr>
            <a:r>
              <a:rPr sz="750" b="1">
                <a:solidFill>
                  <a:srgbClr val="F4ECD8"/>
                </a:solidFill>
              </a:rPr>
              <a:t>FÜR MAREN · AUGUST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BEFCF-D721-4D20-8E7A-9A78D530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51B2C-3615-4E16-BFFC-D9B4CCE4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B8171"/>
                </a:solidFill>
              </a:defRPr>
            </a:pPr>
            <a:r>
              <a:rPr sz="750" b="1">
                <a:solidFill>
                  <a:srgbClr val="8B8171"/>
                </a:solidFill>
              </a:rPr>
              <a:t>PAASLEBEN · ÜBERGABE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9A755-AD32-4E7C-8D2C-4278E483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232A"/>
                </a:solidFill>
              </a:defRPr>
            </a:pPr>
            <a:r>
              <a:rPr sz="825" b="1">
                <a:solidFill>
                  <a:srgbClr val="B3232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97515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2026-08-01T22:20:41.3450000Z</dcterms:created>
  <dcterms:modified xsi:type="dcterms:W3CDTF">2026-08-01T22:20:41.3450000Z</dcterms:modified>
</coreProperties>
</file>